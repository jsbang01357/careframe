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 15초 / 10분 25초] 영희는 집에서 불편함을 느끼는 사람이 편하게 이야기할 수 있는 AI 건강 길잡이입니다. 의사를 대신하는 제품이 아니라 의료진에게 전달할 기록을 준비하고, 위험 신호를 놓치지 않도록 설계했습니다.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 30초 / 10분 50초] 사용자는 의료 용어를 모릅니다. 문진에 중요한 정보를 자신의 말로 이야기하지만 그것을 정리하는 부담은 사용자 또는 의료진에게 남습니다. 영희는 그 사이를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 25초 / 10분 50초] 이번 해커톤에서는 욕심내서 질환을 늘리지 않았습니다. 한 명의 AI 영희와 한 가지 상복부 불편감 경로를 완주합니다. 대화, 정보 구조화, 안전 분기, 의료진 전달 자료가 한 상태를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 60초 / 10분 70초] 한 번 말한 내용을 네 개의 임상 정보로 나눌 수 있습니다. 이미 말한 발병 시점이나 위치를 다시 묻지 않고, 아직 확인하지 않은 위험 관련 질문을 선택합니다. 현재 슬라이드는 예상 UI를 재현한 것으로 실제 실행 장면은 개발 후 캡처로 바꿔야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 35초 / 10분 50초] 저희가 특별히 중요하게 보는 것은 결측 상태입니다. 약 이름을 모른다고 한 것을 약을 먹지 않는다고 바꾸면 안 됩니다. 각 사실을 원문에 연결하고, 수정 가능한 구조로 만듭니다. 이는 제품의 설계 원칙이며 임상적 정확성이 입증됐다는 뜻은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 35초 / 10분 60초] 심근경색을 진단한다고 주장하지 않습니다. 현재 가슴 압박감과 호흡곤란 같은 위험 표현이 들어오면 일반 질문을 계속하지 않고 긴급 안내로 전환하는 제어 구조를 증명합니다. 전사와 사실 추출 오류는 남는 위험입니다.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[4분 40초 / 10분 35초] 저희의 목표는 세 가지 증거입니다. 실제 음성으로 대화했다는 것, 원문에 연결된 문진표가 남는다는 것, 위험한 경우 대화를 멈춘다는 것입니다. 이 표의 결과는 테스트 실행 후에만 채웁니다. 여기까지가 4분 발표의 완결된 버전입니다.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[10분 추가 90초] 음성 AI가 문진을 임의로 진행하게 두면 위험 발언 뒤에도 일상적인 질문을 이어갈 수 있습니다. 그래서 발언 확정, 사실 추출, 검증, 안전 규칙을 거친 뒤 다음 음성을 승인합니다. 단점은 지연시간이며 실제 측정해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[10분 추가 75초] 정보 상태 여섯 가지를 분리합니다. 특히 아직 묻지 않은 항목과 없다고 부정한 항목을 구분합니다. 원문 ID와 주체, 시점을 보관해 아버지의 과거 실신이 사용자 자신의 현재 증상으로 변환되지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[10분 추가 60초] 기록을 최종 단계에 LLM으로 다시 쓰게 하면 없던 병력이 생길 수 있습니다. 그래서 같은 구조화 데이터를 화면과 문진표로 렌더링합니다. 실제 서비스에서는 전사 오류를 사용자가 교정하는 마지막 확인이 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[10분 추가 75초] 정상 문진뿐 아니라 부정 표현, 타인 과거 병력, 정정, 중간 종료, 프롬프트 공격까지 확인합니다. 12개는 텍스트 회귀 테스트이며 실제 음성 검증을 대체하지 않습니다. 테스트 결과가 나온 뒤 숫자를 넣고 미통과 사례를 공개합니다.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[10분 추가 60초] 영희는 진단 AI를 완성했다는 주장이 아닙니다. 사용자의 말을 근거에 맞게 기록하고, 필요한 행동으로 연결하는 첫 단계를 만들었습니다. 오늘은 이 한 경로를 끝까지 보여주고, 이후 실제 사용자 및 임상 평가로 검증 범위를 확장하겠습니다.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영희, 우리집 AI 건강 길잡이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아플 때 검색보다 먼저, 편하게 말할 수 있는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6858000" cy="3611880"/>
          </a:xfrm>
          <a:prstGeom prst="roundRect">
            <a:avLst>
              <a:gd name="adj" fmla="val 5570"/>
            </a:avLst>
          </a:prstGeom>
          <a:solidFill>
            <a:srgbClr val="102A38"/>
          </a:solidFill>
          <a:ln w="12700">
            <a:solidFill>
              <a:srgbClr val="102A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578608"/>
            <a:ext cx="5989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“영희야, 사흘 전부터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명치가 쓰리고 밥 먹으면 더 그래.”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60704" y="4910328"/>
            <a:ext cx="2331720" cy="329184"/>
          </a:xfrm>
          <a:prstGeom prst="roundRect">
            <a:avLst>
              <a:gd name="adj" fmla="val 44444"/>
            </a:avLst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93318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60대 사용자의 일상 언어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00416" y="2157984"/>
            <a:ext cx="3529584" cy="324612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606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말로 이야기하면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93608" y="3218688"/>
            <a:ext cx="27797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① 필요한 정보가 정리되고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② 모르는 것은 그대로 남고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③ 위험하면 대화를 멈춥니다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아플 때, 무엇을 말해야 할지도 어렵습니다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증상 설명의 부담은 진료실에 들어가기 전부터 시작됩니다.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103120"/>
            <a:ext cx="3529584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377440"/>
            <a:ext cx="566928" cy="329184"/>
          </a:xfrm>
          <a:prstGeom prst="roundRect">
            <a:avLst>
              <a:gd name="adj" fmla="val 44444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003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962656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검색의 한계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6112" y="3657600"/>
            <a:ext cx="3063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검색 결과는 많지만,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내 상황에 필요한 질문은 모호합니다.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0560" y="2103120"/>
            <a:ext cx="3529584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2377440"/>
            <a:ext cx="566928" cy="329184"/>
          </a:xfrm>
          <a:prstGeom prst="roundRect">
            <a:avLst>
              <a:gd name="adj" fmla="val 44444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4003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2962656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설명의 한계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18304" y="3657600"/>
            <a:ext cx="3063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언제부터, 어떻게 아팠는지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진료실에서 다시 떠올려야 합니다.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2752" y="2103120"/>
            <a:ext cx="3529584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0496" y="2377440"/>
            <a:ext cx="566928" cy="329184"/>
          </a:xfrm>
          <a:prstGeom prst="roundRect">
            <a:avLst>
              <a:gd name="adj" fmla="val 44444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50224" y="24003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40496" y="2962656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기록의 한계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40496" y="3657600"/>
            <a:ext cx="30632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AI가 요약한 문장이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실제 발언과 일치하는지 불분명합니다.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" y="56967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문제의 핵심: 증상을 말하는 경험과 의료정보를 기록하는 과정이 분리되어 있습니다.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대화 하나로, 진료 준비까지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영희는 챗봇·설문지·문진표를 별개의 기능으로 만들지 않습니다.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" y="2404872"/>
            <a:ext cx="2029968" cy="2029968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609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" y="315468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말하기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자연스러운 음성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88336" y="305409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962656" y="2404872"/>
            <a:ext cx="2029968" cy="2029968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26609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63824" y="315468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이해하기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154680" y="3749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발언에서 사실 추출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0056" y="305409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294376" y="2404872"/>
            <a:ext cx="2029968" cy="2029968"/>
          </a:xfrm>
          <a:prstGeom prst="roundRect">
            <a:avLst>
              <a:gd name="adj" fmla="val 7658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26609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95544" y="315468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확인하기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486400" y="3749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근거·시점·주체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51776" y="305409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7626096" y="2404872"/>
            <a:ext cx="2029968" cy="2029968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6408" y="26609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27264" y="315468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안내하기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818120" y="3749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다음 질문·위험 중단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83496" y="305409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957816" y="2404872"/>
            <a:ext cx="2029968" cy="2029968"/>
          </a:xfrm>
          <a:prstGeom prst="roundRect">
            <a:avLst>
              <a:gd name="adj" fmla="val 765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8128" y="26609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58984" y="315468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남기기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0149840" y="37490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의료진용 문진표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6696" y="5029200"/>
            <a:ext cx="10195560" cy="576072"/>
          </a:xfrm>
          <a:prstGeom prst="roundRect">
            <a:avLst>
              <a:gd name="adj" fmla="val 19048"/>
            </a:avLst>
          </a:prstGeom>
          <a:solidFill>
            <a:srgbClr val="102A38"/>
          </a:solidFill>
          <a:ln w="12700">
            <a:solidFill>
              <a:srgbClr val="102A3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07008" y="5157216"/>
            <a:ext cx="9784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가지 성인 상복부 불편감 시나리오를 처음부터 끝까지 구현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PRODUCT MOMENT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문장에서 네 가지 정보가 정리됩니다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고정 질문지를 차례대로 읽는 대신, 이미 들은 사실을 다음 질문에 반영합니다.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2075688"/>
            <a:ext cx="4773168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194560"/>
            <a:ext cx="4453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사용자 발언 · 예시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" y="2414016"/>
            <a:ext cx="44531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“사흘 전부터 명치가 쓰리고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밥 먹으면 더 그래.”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858768"/>
            <a:ext cx="4727448" cy="749808"/>
          </a:xfrm>
          <a:prstGeom prst="roundRect">
            <a:avLst>
              <a:gd name="adj" fmla="val 15854"/>
            </a:avLst>
          </a:prstGeom>
          <a:solidFill>
            <a:srgbClr val="EDF5F3"/>
          </a:solidFill>
          <a:ln w="12700">
            <a:solidFill>
              <a:srgbClr val="EDF5F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9080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영희: “혹시 토하거나 검은 변을 보셨나요?”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50992" y="281635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46520" y="2039112"/>
            <a:ext cx="48920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130552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시작 시점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03336" y="2121408"/>
            <a:ext cx="23481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3일 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0" y="21579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2651760"/>
            <a:ext cx="48920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743200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위치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3336" y="2734056"/>
            <a:ext cx="23481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0" y="27706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46520" y="3264408"/>
            <a:ext cx="48920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355848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양상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03336" y="3346704"/>
            <a:ext cx="23481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쓰림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0" y="33832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46520" y="3877056"/>
            <a:ext cx="48920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3968496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식사 관련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03336" y="3959352"/>
            <a:ext cx="23481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식후 악화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515600" y="39959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46520" y="4489704"/>
            <a:ext cx="4892040" cy="530352"/>
          </a:xfrm>
          <a:prstGeom prst="roundRect">
            <a:avLst>
              <a:gd name="adj" fmla="val 17241"/>
            </a:avLst>
          </a:prstGeom>
          <a:solidFill>
            <a:srgbClr val="F4F5F4"/>
          </a:solidFill>
          <a:ln w="12700">
            <a:solidFill>
              <a:srgbClr val="F4F5F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4581144"/>
            <a:ext cx="1761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구토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03336" y="4572000"/>
            <a:ext cx="23481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아직 묻는 중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515600" y="46085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ASSESSED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※ 위 화면은 설명용 재현. 구현 후 실제 캡처로 교체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PRODUCT MOMENT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모르는 것은 모른다고 남깁니다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의료정보에서 “미확인”과 “없음”은 같은 뜻이 아닙니다.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2066544"/>
            <a:ext cx="4956048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185416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사용자 발언 · 예시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" y="2404872"/>
            <a:ext cx="4636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“약 이름은 잘 모르겠어요.”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" y="3456432"/>
            <a:ext cx="4937760" cy="1554480"/>
          </a:xfrm>
          <a:prstGeom prst="roundRect">
            <a:avLst>
              <a:gd name="adj" fmla="val 8824"/>
            </a:avLst>
          </a:prstGeom>
          <a:solidFill>
            <a:srgbClr val="FCEAE7"/>
          </a:solidFill>
          <a:ln w="12700">
            <a:solidFill>
              <a:srgbClr val="FCEAE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685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7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잘못된 기록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9264" y="4197096"/>
            <a:ext cx="4297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복용약: 없음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6099048" y="2066544"/>
            <a:ext cx="5294376" cy="2944368"/>
          </a:xfrm>
          <a:prstGeom prst="roundRect">
            <a:avLst>
              <a:gd name="adj" fmla="val 4969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23408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영희의 구조화 결과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9944" y="291693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복용약: 이름을 모름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428232" y="3657600"/>
            <a:ext cx="44988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상태  unknown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근거  “약 이름은 잘 모르겠어요.”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28232" y="5285232"/>
            <a:ext cx="3291840" cy="329184"/>
          </a:xfrm>
          <a:prstGeom prst="roundRect">
            <a:avLst>
              <a:gd name="adj" fmla="val 44444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530809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원문 연결 · 사용자 정정 가능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PRODUCT MOMENT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위험하면, 대화를 이어가지 않습니다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사용자를 더 오래 붙잡는 것보다 적절한 도움을 받도록 안내하는 것이 우선입니다.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" y="2020824"/>
            <a:ext cx="4901184" cy="3218688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295144"/>
            <a:ext cx="1252728" cy="329184"/>
          </a:xfrm>
          <a:prstGeom prst="roundRect">
            <a:avLst>
              <a:gd name="adj" fmla="val 44444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136" y="231800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일반 경로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3008376"/>
            <a:ext cx="4215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“밥을 먹으면 명치가 쓰려요.”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9264" y="4224528"/>
            <a:ext cx="4370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필요한 문진 질문을 이어갑니다.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34456" y="2020824"/>
            <a:ext cx="5458968" cy="3218688"/>
          </a:xfrm>
          <a:prstGeom prst="roundRect">
            <a:avLst>
              <a:gd name="adj" fmla="val 5114"/>
            </a:avLst>
          </a:prstGeom>
          <a:solidFill>
            <a:srgbClr val="FCEAE7"/>
          </a:solidFill>
          <a:ln w="12700">
            <a:solidFill>
              <a:srgbClr val="FCEAE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2304288"/>
            <a:ext cx="1252728" cy="329184"/>
          </a:xfrm>
          <a:prstGeom prst="roundRect">
            <a:avLst>
              <a:gd name="adj" fmla="val 44444"/>
            </a:avLst>
          </a:prstGeom>
          <a:solidFill>
            <a:srgbClr val="F4D6D2"/>
          </a:solidFill>
          <a:ln w="12700">
            <a:solidFill>
              <a:srgbClr val="F4D6D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32714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위험 경로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2784" y="2898648"/>
            <a:ext cx="47457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“지금 가슴이 꽉 눌리고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숨쉬기도 힘들어요.”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254496" y="43891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7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일반 문진 중단 · 즉시 119 안내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5641848"/>
            <a:ext cx="10826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임상적으로 검증된 진단·응급도 판정이 아닌, 사전 정의한 안전 분기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EVIDENCE &amp; CLOSE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“작동한다”는 주장 대신, 실행 증거를 남깁니다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4분 발표는 여기서 마무리합니다. 상세 설계와 한계는 다음 장부터 이어집니다.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9808" y="1938528"/>
            <a:ext cx="10661904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029968"/>
            <a:ext cx="6400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정상 문진 완료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897112" y="2016252"/>
            <a:ext cx="2029968" cy="329184"/>
          </a:xfrm>
          <a:prstGeom prst="roundRect">
            <a:avLst>
              <a:gd name="adj" fmla="val 44444"/>
            </a:avLst>
          </a:prstGeom>
          <a:solidFill>
            <a:srgbClr val="F0F2F1"/>
          </a:solidFill>
          <a:ln w="12700">
            <a:solidFill>
              <a:srgbClr val="F0F2F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203911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실행 후 기입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2551176"/>
            <a:ext cx="10661904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642616"/>
            <a:ext cx="6400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/ not_assessed 구분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97112" y="2628900"/>
            <a:ext cx="2029968" cy="329184"/>
          </a:xfrm>
          <a:prstGeom prst="roundRect">
            <a:avLst>
              <a:gd name="adj" fmla="val 44444"/>
            </a:avLst>
          </a:prstGeom>
          <a:solidFill>
            <a:srgbClr val="F0F2F1"/>
          </a:solidFill>
          <a:ln w="12700">
            <a:solidFill>
              <a:srgbClr val="F0F2F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2651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실행 후 기입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" y="3163824"/>
            <a:ext cx="10661904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55264"/>
            <a:ext cx="6400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위험 경로 중단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897112" y="3241548"/>
            <a:ext cx="2029968" cy="329184"/>
          </a:xfrm>
          <a:prstGeom prst="roundRect">
            <a:avLst>
              <a:gd name="adj" fmla="val 44444"/>
            </a:avLst>
          </a:prstGeom>
          <a:solidFill>
            <a:srgbClr val="F0F2F1"/>
          </a:solidFill>
          <a:ln w="12700">
            <a:solidFill>
              <a:srgbClr val="F0F2F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32644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실행 후 기입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" y="3776472"/>
            <a:ext cx="10661904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67912"/>
            <a:ext cx="6400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과거·타인 병력 오인 방지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897112" y="3854196"/>
            <a:ext cx="2029968" cy="329184"/>
          </a:xfrm>
          <a:prstGeom prst="roundRect">
            <a:avLst>
              <a:gd name="adj" fmla="val 44444"/>
            </a:avLst>
          </a:prstGeom>
          <a:solidFill>
            <a:srgbClr val="F0F2F1"/>
          </a:solidFill>
          <a:ln w="12700">
            <a:solidFill>
              <a:srgbClr val="F0F2F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387705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실행 후 기입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4389120"/>
            <a:ext cx="10661904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480560"/>
            <a:ext cx="6400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실제 한국어 음성 3회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897112" y="4466844"/>
            <a:ext cx="2029968" cy="329184"/>
          </a:xfrm>
          <a:prstGeom prst="roundRect">
            <a:avLst>
              <a:gd name="adj" fmla="val 44444"/>
            </a:avLst>
          </a:prstGeom>
          <a:solidFill>
            <a:srgbClr val="F0F2F1"/>
          </a:solidFill>
          <a:ln w="12700">
            <a:solidFill>
              <a:srgbClr val="F0F2F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44897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실행 후 기입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" y="5413248"/>
            <a:ext cx="10661904" cy="640080"/>
          </a:xfrm>
          <a:prstGeom prst="roundRect">
            <a:avLst>
              <a:gd name="adj" fmla="val 17143"/>
            </a:avLst>
          </a:prstGeom>
          <a:solidFill>
            <a:srgbClr val="102A38"/>
          </a:solidFill>
          <a:ln w="12700">
            <a:solidFill>
              <a:srgbClr val="102A3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5595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영희는 의사를 대신하지 않습니다. 사용자가 증상을 더 정확하게 전달하도록 돕습니다.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영희는 먼저 말하고, 나중에 검증하지 않습니다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다음 응답이 나오기 전에 정보를 검토하고 안전 분기를 결정합니다.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78408" y="1865376"/>
            <a:ext cx="7516368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194767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82496" y="19385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확정된 발언 전사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81144" y="22951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78408" y="2478024"/>
            <a:ext cx="7516368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25603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82496" y="255117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사실 후보 추출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81144" y="290779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8408" y="3090672"/>
            <a:ext cx="7516368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317296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82496" y="316382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근거·주체·시점 검증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81144" y="35204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8408" y="3703320"/>
            <a:ext cx="7516368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144" y="378561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82496" y="377647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InterviewState 업데이트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81144" y="41330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8408" y="4315968"/>
            <a:ext cx="7516368" cy="448056"/>
          </a:xfrm>
          <a:prstGeom prst="roundRect">
            <a:avLst>
              <a:gd name="adj" fmla="val 20408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" y="439826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82496" y="4389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안전 규칙 / 다음 질문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81144" y="474573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8408" y="4928616"/>
            <a:ext cx="7516368" cy="448056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52144" y="501091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82496" y="50017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승인된 음성 응답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823960" y="1901952"/>
            <a:ext cx="2340864" cy="3529584"/>
          </a:xfrm>
          <a:prstGeom prst="roundRect">
            <a:avLst>
              <a:gd name="adj" fmla="val 6641"/>
            </a:avLst>
          </a:prstGeom>
          <a:solidFill>
            <a:srgbClr val="102A38"/>
          </a:solidFill>
          <a:ln w="12700">
            <a:solidFill>
              <a:srgbClr val="102A3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89136" y="2267712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설계 원칙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107424" y="2926080"/>
            <a:ext cx="18105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5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first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5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free-form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5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emergency reply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5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state,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5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report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DATA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임상정보에는 값뿐 아니라 상태와 근거가 필요합니다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대화와 문진표가 서로 다른 병력을 갖지 않도록 하나의 InterviewState를 사용합니다.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1965960"/>
            <a:ext cx="5129784" cy="3593592"/>
          </a:xfrm>
          <a:prstGeom prst="roundRect">
            <a:avLst>
              <a:gd name="adj" fmla="val 4326"/>
            </a:avLst>
          </a:prstGeom>
          <a:solidFill>
            <a:srgbClr val="102A38"/>
          </a:solidFill>
          <a:ln w="12700">
            <a:solidFill>
              <a:srgbClr val="102A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322576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2E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42416" y="2871216"/>
            <a:ext cx="448056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          "약 이름을 모름"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status          unknown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sourceTurnId    turn_007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        "약 이름은 잘 모르겠어요"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subject         self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temporality     current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6208" y="2039112"/>
            <a:ext cx="235915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218541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91656" y="2514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정보 제공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33104" y="2039112"/>
            <a:ext cx="235915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88552" y="2185416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denied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2514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명시적 부정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6208" y="3099816"/>
            <a:ext cx="235915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324612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1656" y="35753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잘 모름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33104" y="3099816"/>
            <a:ext cx="235915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88552" y="3246120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88552" y="35753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재확인 필요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6208" y="4160520"/>
            <a:ext cx="235915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430682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91656" y="4636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응답 거절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33104" y="4160520"/>
            <a:ext cx="2359152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88552" y="4306824"/>
            <a:ext cx="2011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not_assessed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88552" y="4636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확인하지 않음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대화는 끝나도, 진료 준비 자료는 남습니다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최종 문진표는 AI가 다시 지어내지 않고 현재 구조화 상태에서 렌더링합니다.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1929384"/>
            <a:ext cx="6684264" cy="379476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DFE7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221992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의료진 전달용 문진 요약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61872" y="2706624"/>
            <a:ext cx="5394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※ 가상 사례 · 문서 형태 예시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07238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주호소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52928" y="3072384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상복부 불편감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46557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발병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52928" y="3465576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3일 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양상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52928" y="3858768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명치 쓰림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25196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악화 요인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52928" y="4251960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식후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6451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복용약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52928" y="4645152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이름 모름 (unknown)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03834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흑색변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52928" y="5038344"/>
            <a:ext cx="4251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미확인 (not assessed)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18704" y="2139696"/>
            <a:ext cx="3310128" cy="3227832"/>
          </a:xfrm>
          <a:prstGeom prst="roundRect">
            <a:avLst>
              <a:gd name="adj" fmla="val 4249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38744" y="2487168"/>
            <a:ext cx="2706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사용 가능한 결과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238744" y="3035808"/>
            <a:ext cx="274320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환자가 내용 확인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원문 근거 조회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의료진에게 제시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A4 인쇄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VALIDATION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테스트는 성공률보다 실패 유형을 드러내야 합니다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12개 텍스트 회귀 증례와 3회 실제 음성 실행 — 수치는 실행 후 입력합니다.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29968"/>
            <a:ext cx="2660904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774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기록 충실도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77824" y="2944368"/>
            <a:ext cx="2313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원문과 기록의 일치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57016" y="2029968"/>
            <a:ext cx="2660904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3774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상태 보존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49040" y="2944368"/>
            <a:ext cx="2313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≠ denied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28232" y="2029968"/>
            <a:ext cx="2660904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0256" y="23774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안전 분기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620256" y="2944368"/>
            <a:ext cx="2313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위험 신호에서 중단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99448" y="2029968"/>
            <a:ext cx="2660904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23774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오탐 방지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491472" y="2944368"/>
            <a:ext cx="2313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부정·과거·타인 구분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4590288"/>
            <a:ext cx="10744200" cy="1069848"/>
          </a:xfrm>
          <a:prstGeom prst="roundRect">
            <a:avLst>
              <a:gd name="adj" fmla="val 11966"/>
            </a:avLst>
          </a:prstGeom>
          <a:solidFill>
            <a:srgbClr val="102A38"/>
          </a:solidFill>
          <a:ln w="12700">
            <a:solidFill>
              <a:srgbClr val="102A3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483717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CASES   — / 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27448" y="483717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RUNS   — / 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94192" y="4882896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DE9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결함 / 미검증 공개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58795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주의: 개발 중 테스트는 임상적 유효성 검증이 아닙니다.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7D76"/>
          </a:solidFill>
          <a:ln w="12700">
            <a:solidFill>
              <a:srgbClr val="107D7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DIRECTION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 가지 증상부터, 신뢰할 수 있는 건강 대화로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85216" y="1325880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오늘 증명할 범위는 작지만, 이후 확장에 필요한 기준을 먼저 만듭니다.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6519672"/>
            <a:ext cx="10991088" cy="0"/>
          </a:xfrm>
          <a:prstGeom prst="line">
            <a:avLst/>
          </a:prstGeom>
          <a:noFill/>
          <a:ln w="12700">
            <a:solidFill>
              <a:srgbClr val="E3E9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65653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YOUNGHEE  /  CODEX HACKATHON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16768" y="65562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2376" y="1947672"/>
            <a:ext cx="5093208" cy="3355848"/>
          </a:xfrm>
          <a:prstGeom prst="roundRect">
            <a:avLst>
              <a:gd name="adj" fmla="val 4905"/>
            </a:avLst>
          </a:prstGeom>
          <a:solidFill>
            <a:srgbClr val="DDF3EC"/>
          </a:solidFill>
          <a:ln w="12700">
            <a:solidFill>
              <a:srgbClr val="DDF3E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 /  해커톤 범위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807208"/>
            <a:ext cx="429768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영희 한 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성인 상복부 불편감 한 경로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실제 음성 대화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근거 기반 구조화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위험 시 일반 문진 중단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의료진용 문진표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08192" y="1947672"/>
            <a:ext cx="5312664" cy="3355848"/>
          </a:xfrm>
          <a:prstGeom prst="roundRect">
            <a:avLst>
              <a:gd name="adj" fmla="val 49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2860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7D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 /  추가 검증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2816352"/>
            <a:ext cx="440740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다른 주호소로 확장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실제 사용자 UX 평가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전사·추출 정확도 측정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임상 전문가 안전성 평가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동의 기반 의료기관 전달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565099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“편하게 이야기했더니, 필요한 기록이 남았습니다.”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영희 | 우리집 AI 건강 길잡이</dc:title>
  <dc:subject>영희 해커톤 10분 발표</dc:subject>
  <dc:creator>MedicalFrame</dc:creator>
  <cp:lastModifiedBy>MedicalFrame</cp:lastModifiedBy>
  <cp:revision>1</cp:revision>
  <dcterms:created xsi:type="dcterms:W3CDTF">2026-10-09T01:38:58Z</dcterms:created>
  <dcterms:modified xsi:type="dcterms:W3CDTF">2026-10-09T01:38:58Z</dcterms:modified>
</cp:coreProperties>
</file>